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7" r:id="rId1"/>
  </p:sldMasterIdLst>
  <p:notesMasterIdLst>
    <p:notesMasterId r:id="rId36"/>
  </p:notesMasterIdLst>
  <p:sldIdLst>
    <p:sldId id="256" r:id="rId2"/>
    <p:sldId id="258" r:id="rId3"/>
    <p:sldId id="257" r:id="rId4"/>
    <p:sldId id="259" r:id="rId5"/>
    <p:sldId id="260" r:id="rId6"/>
    <p:sldId id="261" r:id="rId7"/>
    <p:sldId id="263" r:id="rId8"/>
    <p:sldId id="262" r:id="rId9"/>
    <p:sldId id="264" r:id="rId10"/>
    <p:sldId id="265" r:id="rId11"/>
    <p:sldId id="291" r:id="rId12"/>
    <p:sldId id="292" r:id="rId13"/>
    <p:sldId id="293" r:id="rId14"/>
    <p:sldId id="267" r:id="rId15"/>
    <p:sldId id="266" r:id="rId16"/>
    <p:sldId id="294" r:id="rId17"/>
    <p:sldId id="275" r:id="rId18"/>
    <p:sldId id="276" r:id="rId19"/>
    <p:sldId id="277" r:id="rId20"/>
    <p:sldId id="273" r:id="rId21"/>
    <p:sldId id="274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90" r:id="rId32"/>
    <p:sldId id="287" r:id="rId33"/>
    <p:sldId id="288" r:id="rId34"/>
    <p:sldId id="289" r:id="rId3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04" autoAdjust="0"/>
    <p:restoredTop sz="94660"/>
  </p:normalViewPr>
  <p:slideViewPr>
    <p:cSldViewPr snapToGrid="0">
      <p:cViewPr varScale="1">
        <p:scale>
          <a:sx n="91" d="100"/>
          <a:sy n="91" d="100"/>
        </p:scale>
        <p:origin x="36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C1E345E-7B28-470D-9062-1C1E6E588DE0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C9754E-82E2-4AFD-8634-0A747FF630F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833814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MODEL BUILDING</a:t>
            </a:r>
          </a:p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9754E-82E2-4AFD-8634-0A747FF630F8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9897268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HANDLING CLASS IMBALANCE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9754E-82E2-4AFD-8634-0A747FF630F8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14072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HYPERPARAMETER TUNING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9754E-82E2-4AFD-8634-0A747FF630F8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14238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C9754E-82E2-4AFD-8634-0A747FF630F8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49802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6F0A-D6FE-4011-8C48-EE1C226555B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6D3-8121-432D-B325-4FD621DED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23067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6F0A-D6FE-4011-8C48-EE1C226555B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6B88C6D3-8121-432D-B325-4FD621DED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4373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6F0A-D6FE-4011-8C48-EE1C226555B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6D3-8121-432D-B325-4FD621DED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31481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6F0A-D6FE-4011-8C48-EE1C226555B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6D3-8121-432D-B325-4FD621DED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713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6F0A-D6FE-4011-8C48-EE1C226555B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6D3-8121-432D-B325-4FD621DED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194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6F0A-D6FE-4011-8C48-EE1C226555B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6D3-8121-432D-B325-4FD621DED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588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6F0A-D6FE-4011-8C48-EE1C226555B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6D3-8121-432D-B325-4FD621DED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21866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6F0A-D6FE-4011-8C48-EE1C226555B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6D3-8121-432D-B325-4FD621DED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542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6F0A-D6FE-4011-8C48-EE1C226555B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6D3-8121-432D-B325-4FD621DED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397643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6F0A-D6FE-4011-8C48-EE1C226555B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6D3-8121-432D-B325-4FD621DED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935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6F0A-D6FE-4011-8C48-EE1C226555B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6D3-8121-432D-B325-4FD621DED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50375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6F0A-D6FE-4011-8C48-EE1C226555B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6D3-8121-432D-B325-4FD621DED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9930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6F0A-D6FE-4011-8C48-EE1C226555B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6D3-8121-432D-B325-4FD621DED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271613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6F0A-D6FE-4011-8C48-EE1C226555B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6D3-8121-432D-B325-4FD621DED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500117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6F0A-D6FE-4011-8C48-EE1C226555B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6D3-8121-432D-B325-4FD621DED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40825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6F0A-D6FE-4011-8C48-EE1C226555B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6D3-8121-432D-B325-4FD621DED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752309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8616F0A-D6FE-4011-8C48-EE1C226555B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88C6D3-8121-432D-B325-4FD621DED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00940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8616F0A-D6FE-4011-8C48-EE1C226555B1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6B88C6D3-8121-432D-B325-4FD621DED03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3711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8" r:id="rId1"/>
    <p:sldLayoutId id="2147483799" r:id="rId2"/>
    <p:sldLayoutId id="2147483800" r:id="rId3"/>
    <p:sldLayoutId id="2147483801" r:id="rId4"/>
    <p:sldLayoutId id="2147483802" r:id="rId5"/>
    <p:sldLayoutId id="2147483803" r:id="rId6"/>
    <p:sldLayoutId id="2147483804" r:id="rId7"/>
    <p:sldLayoutId id="2147483805" r:id="rId8"/>
    <p:sldLayoutId id="2147483806" r:id="rId9"/>
    <p:sldLayoutId id="2147483807" r:id="rId10"/>
    <p:sldLayoutId id="2147483808" r:id="rId11"/>
    <p:sldLayoutId id="2147483809" r:id="rId12"/>
    <p:sldLayoutId id="2147483810" r:id="rId13"/>
    <p:sldLayoutId id="2147483811" r:id="rId14"/>
    <p:sldLayoutId id="2147483812" r:id="rId15"/>
    <p:sldLayoutId id="2147483813" r:id="rId16"/>
    <p:sldLayoutId id="2147483814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A0A0A-47EA-0ED7-CE09-D7F5EC8926A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4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Mechine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Learning Approach for predicting Customer Churn in the Telecom Industry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16883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CD7790-AF18-895E-F989-BDD1ECA44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367768"/>
          </a:xfrm>
        </p:spPr>
        <p:txBody>
          <a:bodyPr>
            <a:normAutofit/>
          </a:bodyPr>
          <a:lstStyle/>
          <a:p>
            <a:pPr algn="just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Objectives of the Study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1237985-4672-D900-F034-7C1C44E2079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84311" y="2053569"/>
            <a:ext cx="9706603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perform exploratory data analysis (EDA)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customer behavior and identify patterns associated with telecom customer churn.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develop and train multiple machine learning classification models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for predicting customer churn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basedon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customer demographic, service usage, and billing information.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None/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evaluate and compare model performance before and after class balancing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using training and testing accuracy along with standard classification metrics.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enhance model performance through hyperparameter tuning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analyze its impact on prediction accuracy and model generalization.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1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identify the most effective predictive model 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for telecom customer churn by comparing results across different algorithms and optimization stages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3942971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3FAD62-866F-119A-0E63-76328CCD76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059110"/>
          </a:xfrm>
        </p:spPr>
        <p:txBody>
          <a:bodyPr>
            <a:norm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F40B7F-7156-E6DB-1B5E-B665A731B8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149292"/>
            <a:ext cx="9916329" cy="5027671"/>
          </a:xfrm>
        </p:spPr>
        <p:txBody>
          <a:bodyPr/>
          <a:lstStyle/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means when a customer stops using the company’s service (switches to another network or               cancels  the connection).</a:t>
            </a:r>
          </a:p>
          <a:p>
            <a:pPr algn="just">
              <a:spcBef>
                <a:spcPts val="300"/>
              </a:spcBef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telecom: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Churn = customer leaves the network</a:t>
            </a:r>
          </a:p>
          <a:p>
            <a:pPr marL="0" indent="0" algn="just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No churn = customer stays with the network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churn is a major challenge in the telecom industry due to intense competition and low switching costs. 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Predicting churn in advance helps telecom companies identify customers who are likely to leave and take proactive retention actions. </a:t>
            </a:r>
          </a:p>
          <a:p>
            <a:pPr algn="just"/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improves customer satisfaction and reduces revenue loss</a:t>
            </a:r>
            <a:endParaRPr lang="en-IN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975723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504DBD-EE40-2969-C015-29C3B2619A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2365" y="37351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IN" sz="4000">
                <a:latin typeface="Times New Roman" panose="02020603050405020304" pitchFamily="18" charset="0"/>
                <a:cs typeface="Times New Roman" panose="02020603050405020304" pitchFamily="18" charset="0"/>
              </a:rPr>
              <a:t>Data Overview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C4DA9D6-BC57-C634-8099-6AF0B5FEBE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67031" y="2298583"/>
            <a:ext cx="8935992" cy="3492617"/>
          </a:xfrm>
        </p:spPr>
        <p:txBody>
          <a:bodyPr/>
          <a:lstStyle/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of Dataset: Kaggle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 of Data: Secondary Data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of rows: 7043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of columns: 21columns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row represent one customer and each column represent each variables</a:t>
            </a:r>
          </a:p>
          <a:p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variable: Churn (Yes/No)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57338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0D6347-52DB-51F4-5FA9-15FB91C7A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Explanation of Variables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A526B8-E6EA-3F41-1091-D2A674969160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(A)Customer personal details</a:t>
            </a:r>
          </a:p>
          <a:p>
            <a:pPr marL="0" indent="0">
              <a:buNone/>
            </a:pPr>
            <a:r>
              <a:rPr lang="en-IN" sz="1600" dirty="0"/>
              <a:t>These describe demographic characteristics.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customerID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Unique ID for each customer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Male / Female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SeniorCitizen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1 = senior citizen, 0 = not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Partner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Whether customer has a partner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Whether customer has dependents</a:t>
            </a:r>
          </a:p>
          <a:p>
            <a:endParaRPr lang="en-IN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7EF8FE-818D-3ACC-A1FC-CEC6BA36EE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7967" y="2567030"/>
            <a:ext cx="4895056" cy="38337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(B)Contract and billing information</a:t>
            </a:r>
          </a:p>
          <a:p>
            <a:pPr marL="0" indent="0">
              <a:buNone/>
            </a:pPr>
            <a:r>
              <a:rPr lang="en-US" sz="1600" dirty="0"/>
              <a:t>These describe the financial and contract behavior of customers.</a:t>
            </a:r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Month-to-month / One year / Two year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PaperlessBilling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Yes / No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PaymentMethod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Electronic check / Bank transfer / Credit card / Mailed check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MonthlyCharges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Monthly bill amount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TotalCharges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Total amount paid</a:t>
            </a:r>
          </a:p>
          <a:p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tenure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Number of months the customer has stayed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969641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29486A-338C-FE2B-7ED0-90AF19586B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08938" y="1208015"/>
            <a:ext cx="4895055" cy="525150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(C) Service-related variables</a:t>
            </a:r>
          </a:p>
          <a:p>
            <a:pPr marL="0" indent="0">
              <a:buNone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These show what services the customer is using.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PhoneService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Has phone service or not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MultipleLines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Has multiple phone lines or not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InternetService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DSL / Fiber optic / No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OnlineSecurity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Yes / No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OnlineBackup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Yes / No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DeviceProtection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Yes / No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TechSupport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Yes / No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StreamingTV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Yes / No</a:t>
            </a:r>
          </a:p>
          <a:p>
            <a:r>
              <a:rPr lang="en-US" sz="16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StreamingMovies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Yes / No</a:t>
            </a:r>
          </a:p>
          <a:p>
            <a:endParaRPr lang="en-IN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FDB15AA-B078-B031-05C3-89D7D954C2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607967" y="1434517"/>
            <a:ext cx="3559490" cy="416932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(D) Target variable</a:t>
            </a: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Churn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–Yes → Customer left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No → Customer stayed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612077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125785-7E8B-2DCC-9BFD-6C8D2312CB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5471719"/>
          </a:xfrm>
        </p:spPr>
        <p:txBody>
          <a:bodyPr>
            <a:normAutofit/>
          </a:bodyPr>
          <a:lstStyle/>
          <a:p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EDA</a:t>
            </a:r>
          </a:p>
        </p:txBody>
      </p:sp>
    </p:spTree>
    <p:extLst>
      <p:ext uri="{BB962C8B-B14F-4D97-AF65-F5344CB8AC3E}">
        <p14:creationId xmlns:p14="http://schemas.microsoft.com/office/powerpoint/2010/main" val="3760372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BD952-20C5-F0C3-A13B-773C7A868E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137668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Target Variable Distribution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82AE012-0712-AFF1-6AB0-E1A0AEB697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6800" y="2306320"/>
            <a:ext cx="6167120" cy="3865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40154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0AA958-11B3-C144-103F-401240C442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453223" cy="12446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features vs Churn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B67AFC6-90D6-6342-0C8D-669E3251DCA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00566" y="2194560"/>
            <a:ext cx="10018714" cy="41960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59683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DD65B30C-427F-449E-B039-E288E85D8A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9F47D947-83F7-46E3-872B-0777122A0A2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60C7B45B-6634-46FA-862D-B86F1C3C50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7504CC0-DD94-4ED9-ADC9-6FE7AEA33F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4268326-B6DD-4E00-9788-6C319279AC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92C7B3DE-DB23-4AAC-B142-C803C0C0A1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1EEF04DC-4E0D-4127-A98D-EA81C3B2DE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084966D2-3C9B-4F47-8231-1DEC33D3BD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066" y="321734"/>
            <a:ext cx="11074201" cy="6214533"/>
          </a:xfrm>
          <a:custGeom>
            <a:avLst/>
            <a:gdLst>
              <a:gd name="connsiteX0" fmla="*/ 815396 w 11074201"/>
              <a:gd name="connsiteY0" fmla="*/ 0 h 6214533"/>
              <a:gd name="connsiteX1" fmla="*/ 11074201 w 11074201"/>
              <a:gd name="connsiteY1" fmla="*/ 0 h 6214533"/>
              <a:gd name="connsiteX2" fmla="*/ 11074201 w 11074201"/>
              <a:gd name="connsiteY2" fmla="*/ 6214533 h 6214533"/>
              <a:gd name="connsiteX3" fmla="*/ 1498193 w 11074201"/>
              <a:gd name="connsiteY3" fmla="*/ 6214533 h 6214533"/>
              <a:gd name="connsiteX4" fmla="*/ 0 w 11074201"/>
              <a:gd name="connsiteY4" fmla="*/ 4992543 h 6214533"/>
              <a:gd name="connsiteX5" fmla="*/ 433971 w 11074201"/>
              <a:gd name="connsiteY5" fmla="*/ 2335405 h 62145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1074201" h="6214533">
                <a:moveTo>
                  <a:pt x="815396" y="0"/>
                </a:moveTo>
                <a:lnTo>
                  <a:pt x="11074201" y="0"/>
                </a:lnTo>
                <a:lnTo>
                  <a:pt x="11074201" y="6214533"/>
                </a:lnTo>
                <a:lnTo>
                  <a:pt x="1498193" y="6214533"/>
                </a:lnTo>
                <a:lnTo>
                  <a:pt x="0" y="4992543"/>
                </a:lnTo>
                <a:cubicBezTo>
                  <a:pt x="141071" y="4106831"/>
                  <a:pt x="287521" y="3221118"/>
                  <a:pt x="433971" y="2335405"/>
                </a:cubicBezTo>
                <a:close/>
              </a:path>
            </a:pathLst>
          </a:custGeom>
          <a:solidFill>
            <a:srgbClr val="FFFFFF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1"/>
              <a:tileRect/>
            </a:gradFill>
          </a:ln>
          <a:effectLst>
            <a:innerShdw blurRad="57150" dist="38100" dir="14460000">
              <a:prstClr val="black">
                <a:alpha val="7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3333DDC-7881-E37F-1987-E711EC1BE0A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79928" y="1076960"/>
            <a:ext cx="8946872" cy="48971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9175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9D5D6-6BBA-6909-D673-A828DC726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501629"/>
            <a:ext cx="10018713" cy="4289572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Gender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Churn is almost equal for males and females, so gender does not significantly influence churn.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Senior Citizen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Senior citizens have higher churn because they may find telecom services costly or difficult to manage.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Partner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Customers without a partner churn more because they have fewer family commitments to keep the service.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Customers without dependents show higher churn since they are more flexible to switch providers.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Phone Service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Customers with phone service show more churn because most users belong to this category.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123957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9F8D28-7055-4B34-3E99-EA3C8DFE79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686187"/>
            <a:ext cx="10018713" cy="4105013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Lines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Customers with multiple lines have slightly higher churn because higher service cost may lead them to switch providers.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Internet Service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Fiber optic users have the highest churn because it is more expensive compared to DSL.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Contract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Month-to-month contract customers have the highest churn because they are not bound by long-term agreements.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Paperless Billing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Customers using paperless billing show higher churn since these customers are more comfortable switching services online.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Payment Method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Customers using electronic check show the highest churn because this method is commonly used by short-term customers.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935334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41B377-8C1B-E750-0835-6C57691AE8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96606" y="1442905"/>
            <a:ext cx="10018713" cy="4169329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Security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Customers without online security churn more because they feel the service is less secure.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Online Backup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Customers without online backup show higher churn since they receive fewer value-added services.</a:t>
            </a:r>
          </a:p>
          <a:p>
            <a:pPr algn="just"/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Protection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Customers without device protection churn more because they may feel their devices are not well supported.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 Support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Customers without tech support show higher churn due to lack of assistance when issues occur.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TV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Customers without Streaming TV show higher churn because they are not using additional entertainment services, so they feel less value from the telecom plan.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Streaming Movies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Customers without Streaming Movies have higher churn since they are less engaged with bundled digital services offered by the company.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829975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2AF42-7A46-13C7-225E-7C38A7065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949959"/>
          </a:xfrm>
        </p:spPr>
        <p:txBody>
          <a:bodyPr/>
          <a:lstStyle/>
          <a:p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Neumerical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vs Churn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05A250-5ED6-F248-1335-A42FF856495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6560" y="2113280"/>
            <a:ext cx="10302240" cy="3972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333595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0F9D4-2985-B042-C448-C72C69E05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689993"/>
          </a:xfrm>
        </p:spPr>
        <p:txBody>
          <a:bodyPr>
            <a:no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Heat Map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BD4DB5A-4EC5-E786-980A-4EB15542846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75840" y="1585519"/>
            <a:ext cx="8188960" cy="5038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390308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DDB1E8-A230-9A38-BABD-634F86C292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1350628"/>
            <a:ext cx="10018713" cy="4440572"/>
          </a:xfrm>
        </p:spPr>
        <p:txBody>
          <a:bodyPr>
            <a:normAutofit/>
          </a:bodyPr>
          <a:lstStyle/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Tenure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Customers with very low tenure (0–10 months) show the highest churn, indicating that new customers are more likely to leave early if they are not satisfied with the service.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Monthly Charges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Higher monthly charge customers show relatively more churn, suggesting that expensive plans may push customers to switch to cheaper alternatives.</a:t>
            </a:r>
          </a:p>
          <a:p>
            <a:pPr algn="just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Total Charges</a:t>
            </a: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Customers with low total charges churn more, because they are usually new customers who have not stayed long with the company.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41037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246414-9D4F-4378-A309-BE62EC586B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323975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and Outlier Detection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8E5D0FB-E6E0-8EA7-21B8-9090AB8A9E5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04975" y="2518172"/>
            <a:ext cx="9798049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first checked for missing and inconsistent values to ensure data quality before model building.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variable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TotalCharges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was converted to numeric format and missing values were handled appropriately to avoid computation errors.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Outlier analysis was mainly performed on numerical variables such as </a:t>
            </a:r>
            <a:r>
              <a:rPr kumimoji="0" lang="en-US" altLang="en-US" sz="1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Tenure, </a:t>
            </a:r>
            <a:r>
              <a:rPr kumimoji="0" lang="en-US" altLang="en-US" sz="18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MonthlyCharges</a:t>
            </a:r>
            <a:r>
              <a:rPr kumimoji="0" lang="en-US" altLang="en-US" sz="180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kumimoji="0" lang="en-US" altLang="en-US" sz="1800" i="1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TotalCharges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using visual methods (boxplots)  and IQR approach.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No extreme or abnormal outliers were found that required removal, as the values were within realistic business ranges.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ensured that all features were consistent, valid, and suitable for machine learning models.</a:t>
            </a:r>
          </a:p>
        </p:txBody>
      </p:sp>
    </p:spTree>
    <p:extLst>
      <p:ext uri="{BB962C8B-B14F-4D97-AF65-F5344CB8AC3E}">
        <p14:creationId xmlns:p14="http://schemas.microsoft.com/office/powerpoint/2010/main" val="23045725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90113E-3E76-2C26-FDFC-D4210F2ACA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Preprocessing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DD25626-0780-51F4-139E-54BC26586A8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876425" y="2817372"/>
            <a:ext cx="984884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Categorical variables were transformed into numerical format using 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abel encoding techniques to make them suitable for machine learning models.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Numerical features were scaled using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standardscaler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ensure uniform contribution during model training and to improve model performance.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6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dataset was split into training and testing sets, and class imbalance in the target variable was handled using the SMOTE technique.</a:t>
            </a:r>
          </a:p>
        </p:txBody>
      </p:sp>
    </p:spTree>
    <p:extLst>
      <p:ext uri="{BB962C8B-B14F-4D97-AF65-F5344CB8AC3E}">
        <p14:creationId xmlns:p14="http://schemas.microsoft.com/office/powerpoint/2010/main" val="3776449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65AC335-DA64-0AEE-4BB9-A62A1548F60D}"/>
              </a:ext>
            </a:extLst>
          </p:cNvPr>
          <p:cNvSpPr txBox="1"/>
          <p:nvPr/>
        </p:nvSpPr>
        <p:spPr>
          <a:xfrm>
            <a:off x="3048000" y="3244334"/>
            <a:ext cx="6096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BUILDING</a:t>
            </a:r>
          </a:p>
        </p:txBody>
      </p:sp>
    </p:spTree>
    <p:extLst>
      <p:ext uri="{BB962C8B-B14F-4D97-AF65-F5344CB8AC3E}">
        <p14:creationId xmlns:p14="http://schemas.microsoft.com/office/powerpoint/2010/main" val="35960773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9E52029-D80A-851B-7650-4589F824C71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71950" y="1371600"/>
            <a:ext cx="4667250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47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38E4C8F2-72A6-24F8-C119-E040A681BC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19250" y="1950690"/>
            <a:ext cx="9705975" cy="253915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Multiple classification models were trained on the original dataset to establish baseline performance, including Logistic Regression, SVM, KNN, Naive Bayes, Decision Tree, Random Forest, AdaBoost, Gradient Boosting, and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Logistic Regression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showed the most reliable performance with 0.81 accuracy, indicating good generalization and suitability for this dataset’s mostly linear and structured feature relationships.</a:t>
            </a:r>
          </a:p>
          <a:p>
            <a:pPr marL="0" lvl="0" indent="0" algn="just" defTabSz="914400" eaLnBrk="0" fontAlgn="base" hangingPunct="0">
              <a:spcBef>
                <a:spcPts val="300"/>
              </a:spcBef>
              <a:buClrTx/>
              <a:buSzTx/>
              <a:buFontTx/>
              <a:buChar char="•"/>
            </a:pPr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Decision Tree and Random Forest showed overfitting behavior, as their extremely high training accuracy contrasted with noticeably lower test accuracy, indicating poor generalization despite strong training performance</a:t>
            </a:r>
            <a:r>
              <a:rPr lang="en-US" sz="1800" dirty="0"/>
              <a:t>.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9758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AE47F8-CEF1-3CB2-27AA-B468C4C1D0AC}"/>
              </a:ext>
            </a:extLst>
          </p:cNvPr>
          <p:cNvSpPr txBox="1"/>
          <p:nvPr/>
        </p:nvSpPr>
        <p:spPr>
          <a:xfrm>
            <a:off x="3048000" y="3244334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HANDLING CLASS IMBALANCE</a:t>
            </a:r>
          </a:p>
        </p:txBody>
      </p:sp>
    </p:spTree>
    <p:extLst>
      <p:ext uri="{BB962C8B-B14F-4D97-AF65-F5344CB8AC3E}">
        <p14:creationId xmlns:p14="http://schemas.microsoft.com/office/powerpoint/2010/main" val="23339345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9872551C-AB64-DE29-AA77-C44059F58BD8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14474" y="2264457"/>
            <a:ext cx="10106025" cy="26545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target variable exhibited a significant class imbalance, with non-churn customers (0 = 5,174) substantially exceeding churn customers (1 = 1,869), increasing the risk of biased model learning.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To address this issue,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SMOTE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(Synthetic Minority Over-sampling Technique) was applied exclusively to the training dataset to synthetically generate minority-class (churn) samples.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Post-balancing, the dataset achieved a fully balanced class distribution (0 = 4,138 and 1 = 4,138), ensuring equal representation of both churn and non-churn classes.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step enhanced the model’s ability to capture churn patterns accurately, reduced prediction bias, and improved the overall robustness and generalization of the classification models.</a:t>
            </a:r>
          </a:p>
        </p:txBody>
      </p:sp>
    </p:spTree>
    <p:extLst>
      <p:ext uri="{BB962C8B-B14F-4D97-AF65-F5344CB8AC3E}">
        <p14:creationId xmlns:p14="http://schemas.microsoft.com/office/powerpoint/2010/main" val="32441482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4FCA846-5BCE-059A-2B3A-E15D6EC509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524250" y="1095375"/>
            <a:ext cx="5553075" cy="5038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40413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4DC1646B-9937-1024-404B-6EAECB0821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90675" y="2297921"/>
            <a:ext cx="9829800" cy="22621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Although overall accuracy slightly decreased after balancing, the models became more reliable and fair, as churn customers were properly learned instead of being dominated by the majority (non-churn) class.</a:t>
            </a:r>
          </a:p>
          <a:p>
            <a:pPr marL="0" marR="0" lvl="0" indent="0" algn="just" defTabSz="914400" rtl="0" eaLnBrk="0" fontAlgn="base" latinLnBrk="0" hangingPunct="0"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Balanced training shifted the models from biased majority-class prediction to a more realistic and generalizable churn prediction system, improving their ability to capture true churn behavior patterns.</a:t>
            </a:r>
          </a:p>
          <a:p>
            <a:pPr marL="0" marR="0" lvl="0" indent="0" algn="just" defTabSz="914400" rtl="0" eaLnBrk="0" fontAlgn="base" latinLnBrk="0" hangingPunct="0"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trade-off demonstrates that in churn prediction, model credibility and minority-class sensitivity are more important than raw accuracy, making the results more useful for business decision-making and retention strategies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87710473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B1DBA6-F546-9443-2CC7-FB59B51DBB8F}"/>
              </a:ext>
            </a:extLst>
          </p:cNvPr>
          <p:cNvSpPr txBox="1"/>
          <p:nvPr/>
        </p:nvSpPr>
        <p:spPr>
          <a:xfrm>
            <a:off x="3554747" y="2615160"/>
            <a:ext cx="6096000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</a:t>
            </a:r>
          </a:p>
        </p:txBody>
      </p:sp>
    </p:spTree>
    <p:extLst>
      <p:ext uri="{BB962C8B-B14F-4D97-AF65-F5344CB8AC3E}">
        <p14:creationId xmlns:p14="http://schemas.microsoft.com/office/powerpoint/2010/main" val="201256515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5A317643-874F-91D3-ED9A-653DB0CA028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704975" y="2348724"/>
            <a:ext cx="9798048" cy="242374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with cross-validation was employed to systematically tune critical hyperparameters (such as number of estimators, learning rate, and tree depth), enabling better control over model complexity and reducing overfitting.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tuning,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and Random Forest exhibited improved balance between training and testing performance, demonstrating enhanced stability and generalization compared to their default configurations.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The final model was selected based on test accuracy and consistency, ensuring a robust and reliable churn prediction system suitable for real-world decision-making and customer retention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277503918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EB0677B8-7F4B-961C-1C5A-692918BF35C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315786" y="1123951"/>
            <a:ext cx="3695751" cy="4752974"/>
          </a:xfrm>
          <a:prstGeom prst="rect">
            <a:avLst/>
          </a:prstGeom>
        </p:spPr>
      </p:pic>
      <p:pic>
        <p:nvPicPr>
          <p:cNvPr id="16" name="Content Placeholder 15">
            <a:extLst>
              <a:ext uri="{FF2B5EF4-FFF2-40B4-BE49-F238E27FC236}">
                <a16:creationId xmlns:a16="http://schemas.microsoft.com/office/drawing/2014/main" id="{19F8C7E7-A792-EDBC-71A7-4E1CB5265944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58025" y="1123950"/>
            <a:ext cx="3695751" cy="47529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559180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C455FA28-4F15-F79F-8DB0-9729E51D198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62100" y="2178360"/>
            <a:ext cx="10106025" cy="27315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8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Hyperparameter tuning reduced overfitting by regulating model complexity (such as tree depth, learning rate, and number of estimators), resulting in a closer match between training and testing accuracy.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8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Generalization performance improved after tuning, as models demonstrated more stable and reliable predictions on unseen customer data.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8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Boosting-based models, particularly 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showed the greatest improvement, indicating that optimized parameters help capture complex churn patterns more effectively than default configurations.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spcAft>
                <a:spcPts val="8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Overall model accuracy increased across most classifiers, confirming that hyperparameter optimization is essential for building a robust and high-performing churn prediction model.</a:t>
            </a:r>
          </a:p>
        </p:txBody>
      </p:sp>
    </p:spTree>
    <p:extLst>
      <p:ext uri="{BB962C8B-B14F-4D97-AF65-F5344CB8AC3E}">
        <p14:creationId xmlns:p14="http://schemas.microsoft.com/office/powerpoint/2010/main" val="295024507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C15720-B8CC-57CB-BFC6-E11195F3D5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1"/>
            <a:ext cx="10018713" cy="876300"/>
          </a:xfrm>
        </p:spPr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FINDINGS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E9807B6-7B06-A881-A567-C6043469B29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63687" y="1701537"/>
            <a:ext cx="10018713" cy="3323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After hyperparameter tuning, all models showed improved performance, confirming the importance of optimization in churn prediction.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Among all classifiers, </a:t>
            </a:r>
            <a:r>
              <a:rPr kumimoji="0" lang="en-US" altLang="en-US" sz="18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achieved the highest test accuracy (~80%), indicating superior ability to capture complex customer behavior patterns.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Ensemble models (</a:t>
            </a: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, Gradient Boosting, Random Forest) consistently outperformed traditional models like Logistic Regression and KNN.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was selected as the final model due to its best balance between training accuracy and test accuracy (reduced overfitting).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ts val="300"/>
              </a:spcBef>
              <a:buClrTx/>
              <a:buSzTx/>
              <a:buFontTx/>
              <a:buChar char="•"/>
              <a:tabLst/>
            </a:pP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final model can be effectively used to identify high-risk churn customers for targeted retention strategies.</a:t>
            </a:r>
          </a:p>
        </p:txBody>
      </p:sp>
    </p:spTree>
    <p:extLst>
      <p:ext uri="{BB962C8B-B14F-4D97-AF65-F5344CB8AC3E}">
        <p14:creationId xmlns:p14="http://schemas.microsoft.com/office/powerpoint/2010/main" val="74995939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99865-49D7-53B8-BC37-329EF43F3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58A1FA-6BB9-3FD8-EDD0-447F69716E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can be enhanced by incorporating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customer usage data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enable continuous and dynamic churn prediction.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techniques such as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deep learning models (ANN, LSTM)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explored to capture complex customer behavior patterns more effectively.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Additional features like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feedback, complaint history, and service quality metrics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integrated to improve prediction accuracy.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churn prediction system can be deployed as a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web-based or dashboard application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use by telecom customer relationship management (CRM) teams.</a:t>
            </a:r>
          </a:p>
          <a:p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model can be extended to perform </a:t>
            </a:r>
            <a:r>
              <a:rPr lang="en-US" sz="21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segmentation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enabling personalized retention strategies for different customer groups.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4586534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A91474-4338-BE75-1A83-6036D15067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479043-3153-8232-BD2D-7928F786B0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560510" y="2600326"/>
            <a:ext cx="10018713" cy="3181350"/>
          </a:xfrm>
        </p:spPr>
        <p:txBody>
          <a:bodyPr>
            <a:normAutofit fontScale="85000" lnSpcReduction="10000"/>
          </a:bodyPr>
          <a:lstStyle/>
          <a:p>
            <a:pPr algn="just">
              <a:spcBef>
                <a:spcPts val="300"/>
              </a:spcBef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analysis shows that customers with short tenure, high monthly charges, and no long-term contracts have the highest probability of churn, indicating the need for early engagement strategies.</a:t>
            </a:r>
          </a:p>
          <a:p>
            <a:pPr algn="just">
              <a:spcBef>
                <a:spcPts val="300"/>
              </a:spcBef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using month-to-month plans and electronic check payments are more likely to leave; shifting them toward long-term contracts and auto-payment methods can improve retention.</a:t>
            </a:r>
          </a:p>
          <a:p>
            <a:pPr algn="just">
              <a:spcBef>
                <a:spcPts val="300"/>
              </a:spcBef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value-added services (Online Security, Tech Support, Streaming) increases churn risk; offering bundled service packages and personalized add-ons can strengthen customer loyalty.</a:t>
            </a:r>
          </a:p>
          <a:p>
            <a:pPr algn="just">
              <a:spcBef>
                <a:spcPts val="300"/>
              </a:spcBef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Customers with fiber optic internet and high bills show higher churn due to perceived cost; introducing discount plans or loyalty rewards for high-paying users can reduce dissatisfaction.</a:t>
            </a:r>
          </a:p>
          <a:p>
            <a:pPr algn="just">
              <a:spcBef>
                <a:spcPts val="300"/>
              </a:spcBef>
            </a:pP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final optimized model (</a:t>
            </a:r>
            <a:r>
              <a:rPr lang="en-US" sz="21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XGBoost</a:t>
            </a:r>
            <a:r>
              <a:rPr lang="en-US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enables early churn prediction, allowing the company to take proactive retention actions such as targeted offers, customer support calls, and customized plans.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8501543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39F7B5EF-5097-54AD-D432-09452BB126A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2600" y="819151"/>
            <a:ext cx="9750423" cy="4972050"/>
          </a:xfrm>
        </p:spPr>
        <p:txBody>
          <a:bodyPr>
            <a:norm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 used: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Python,Pandas,Numpy,Matplotlib,Seaborn,Scikit-learn,Jupyter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Notebook</a:t>
            </a:r>
          </a:p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References:</a:t>
            </a:r>
          </a:p>
          <a:p>
            <a:pPr marL="0" indent="0">
              <a:buNone/>
            </a:pP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</a:t>
            </a:r>
            <a:r>
              <a:rPr lang="en-IN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Kaggle,Research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articles</a:t>
            </a:r>
          </a:p>
        </p:txBody>
      </p:sp>
    </p:spTree>
    <p:extLst>
      <p:ext uri="{BB962C8B-B14F-4D97-AF65-F5344CB8AC3E}">
        <p14:creationId xmlns:p14="http://schemas.microsoft.com/office/powerpoint/2010/main" val="2674510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51FE795-50B9-5DA0-161B-1DE061EAC9C1}"/>
              </a:ext>
            </a:extLst>
          </p:cNvPr>
          <p:cNvSpPr txBox="1"/>
          <p:nvPr/>
        </p:nvSpPr>
        <p:spPr>
          <a:xfrm>
            <a:off x="2852257" y="3244334"/>
            <a:ext cx="773001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6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5211402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620</TotalTime>
  <Words>1959</Words>
  <Application>Microsoft Office PowerPoint</Application>
  <PresentationFormat>Widescreen</PresentationFormat>
  <Paragraphs>141</Paragraphs>
  <Slides>34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Aptos</vt:lpstr>
      <vt:lpstr>Arial</vt:lpstr>
      <vt:lpstr>Corbel</vt:lpstr>
      <vt:lpstr>Times New Roman</vt:lpstr>
      <vt:lpstr>Parallax</vt:lpstr>
      <vt:lpstr>A Mechine Learning Approach for predicting Customer Churn in the Telecom Industry</vt:lpstr>
      <vt:lpstr>                    Objectives of the Study</vt:lpstr>
      <vt:lpstr>Customer Churn</vt:lpstr>
      <vt:lpstr>Data Overview</vt:lpstr>
      <vt:lpstr>Explanation of Variables</vt:lpstr>
      <vt:lpstr>PowerPoint Presentation</vt:lpstr>
      <vt:lpstr>EDA</vt:lpstr>
      <vt:lpstr>Target Variable Distribution</vt:lpstr>
      <vt:lpstr>Categorical features vs Churn</vt:lpstr>
      <vt:lpstr>PowerPoint Presentation</vt:lpstr>
      <vt:lpstr>PowerPoint Presentation</vt:lpstr>
      <vt:lpstr>PowerPoint Presentation</vt:lpstr>
      <vt:lpstr>PowerPoint Presentation</vt:lpstr>
      <vt:lpstr>Neumerical Features vs Churn</vt:lpstr>
      <vt:lpstr>Heat Map</vt:lpstr>
      <vt:lpstr>PowerPoint Presentation</vt:lpstr>
      <vt:lpstr>Data Cleaning and Outlier Detection</vt:lpstr>
      <vt:lpstr>Data Preprocessing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KEY FINDINGS</vt:lpstr>
      <vt:lpstr>FUTURE SCOPE</vt:lpstr>
      <vt:lpstr>CONCLUSION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praisy uthuppan</dc:creator>
  <cp:lastModifiedBy>praisy uthuppan</cp:lastModifiedBy>
  <cp:revision>8</cp:revision>
  <dcterms:created xsi:type="dcterms:W3CDTF">2026-02-20T04:50:47Z</dcterms:created>
  <dcterms:modified xsi:type="dcterms:W3CDTF">2026-03-06T07:32:19Z</dcterms:modified>
</cp:coreProperties>
</file>